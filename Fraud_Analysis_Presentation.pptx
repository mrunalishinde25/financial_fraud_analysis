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56" r:id="rId2"/>
    <p:sldId id="272" r:id="rId3"/>
    <p:sldId id="271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260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unali Shinde" userId="cbf141e9accf9e7b" providerId="LiveId" clId="{B419D03C-79D9-4D3C-8D7E-F84D43AD3F99}"/>
    <pc:docChg chg="undo custSel addSld modSld sldOrd">
      <pc:chgData name="Mrunali Shinde" userId="cbf141e9accf9e7b" providerId="LiveId" clId="{B419D03C-79D9-4D3C-8D7E-F84D43AD3F99}" dt="2026-10-18T13:50:20.430" v="17" actId="14100"/>
      <pc:docMkLst>
        <pc:docMk/>
      </pc:docMkLst>
      <pc:sldChg chg="addSp delSp modSp new mod ord setBg">
        <pc:chgData name="Mrunali Shinde" userId="cbf141e9accf9e7b" providerId="LiveId" clId="{B419D03C-79D9-4D3C-8D7E-F84D43AD3F99}" dt="2026-10-18T13:50:20.430" v="17" actId="14100"/>
        <pc:sldMkLst>
          <pc:docMk/>
          <pc:sldMk cId="2106265085" sldId="272"/>
        </pc:sldMkLst>
        <pc:graphicFrameChg chg="add del modGraphic">
          <ac:chgData name="Mrunali Shinde" userId="cbf141e9accf9e7b" providerId="LiveId" clId="{B419D03C-79D9-4D3C-8D7E-F84D43AD3F99}" dt="2026-10-18T13:48:46.293" v="5" actId="27309"/>
          <ac:graphicFrameMkLst>
            <pc:docMk/>
            <pc:sldMk cId="2106265085" sldId="272"/>
            <ac:graphicFrameMk id="3" creationId="{35D317D2-DD5E-463B-90FA-E90C1301E173}"/>
          </ac:graphicFrameMkLst>
        </pc:graphicFrameChg>
        <pc:picChg chg="add del mod">
          <ac:chgData name="Mrunali Shinde" userId="cbf141e9accf9e7b" providerId="LiveId" clId="{B419D03C-79D9-4D3C-8D7E-F84D43AD3F99}" dt="2026-10-18T13:49:33.723" v="12" actId="478"/>
          <ac:picMkLst>
            <pc:docMk/>
            <pc:sldMk cId="2106265085" sldId="272"/>
            <ac:picMk id="5" creationId="{2BBD0760-F9F2-4465-AB2A-069841793775}"/>
          </ac:picMkLst>
        </pc:picChg>
        <pc:picChg chg="add mod">
          <ac:chgData name="Mrunali Shinde" userId="cbf141e9accf9e7b" providerId="LiveId" clId="{B419D03C-79D9-4D3C-8D7E-F84D43AD3F99}" dt="2026-10-18T13:50:20.430" v="17" actId="14100"/>
          <ac:picMkLst>
            <pc:docMk/>
            <pc:sldMk cId="2106265085" sldId="272"/>
            <ac:picMk id="7" creationId="{FEACE5A9-2FBF-47EC-8E56-FEE49BBD86B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Fraud amount by bank (₹ lakh)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amount (₹ lakh)</c:v>
                </c:pt>
              </c:strCache>
            </c:strRef>
          </c:tx>
          <c:spPr>
            <a:solidFill>
              <a:srgbClr val="E178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D4-4697-A5F8-3B18178C9C8E}"/>
              </c:ext>
            </c:extLst>
          </c:dPt>
          <c:dPt>
            <c:idx val="1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D4-4697-A5F8-3B18178C9C8E}"/>
              </c:ext>
            </c:extLst>
          </c:dPt>
          <c:dPt>
            <c:idx val="2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D4-4697-A5F8-3B18178C9C8E}"/>
              </c:ext>
            </c:extLst>
          </c:dPt>
          <c:dPt>
            <c:idx val="3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D4-4697-A5F8-3B18178C9C8E}"/>
              </c:ext>
            </c:extLst>
          </c:dPt>
          <c:dPt>
            <c:idx val="4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1D4-4697-A5F8-3B18178C9C8E}"/>
              </c:ext>
            </c:extLst>
          </c:dPt>
          <c:dPt>
            <c:idx val="5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1D4-4697-A5F8-3B18178C9C8E}"/>
              </c:ext>
            </c:extLst>
          </c:dPt>
          <c:dPt>
            <c:idx val="6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1D4-4697-A5F8-3B18178C9C8E}"/>
              </c:ext>
            </c:extLst>
          </c:dPt>
          <c:dPt>
            <c:idx val="7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1D4-4697-A5F8-3B18178C9C8E}"/>
              </c:ext>
            </c:extLst>
          </c:dPt>
          <c:dPt>
            <c:idx val="8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1D4-4697-A5F8-3B18178C9C8E}"/>
              </c:ext>
            </c:extLst>
          </c:dPt>
          <c:dPt>
            <c:idx val="9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1D4-4697-A5F8-3B18178C9C8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IndusInd</c:v>
                </c:pt>
                <c:pt idx="1">
                  <c:v>Yes Bank</c:v>
                </c:pt>
                <c:pt idx="2">
                  <c:v>Kotak</c:v>
                </c:pt>
                <c:pt idx="3">
                  <c:v>ICICI</c:v>
                </c:pt>
                <c:pt idx="4">
                  <c:v>SBI</c:v>
                </c:pt>
                <c:pt idx="5">
                  <c:v>HDFC</c:v>
                </c:pt>
                <c:pt idx="6">
                  <c:v>Bank of Baroda</c:v>
                </c:pt>
                <c:pt idx="7">
                  <c:v>PNB</c:v>
                </c:pt>
                <c:pt idx="8">
                  <c:v>Canara</c:v>
                </c:pt>
                <c:pt idx="9">
                  <c:v>Axis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12.21</c:v>
                </c:pt>
                <c:pt idx="1">
                  <c:v>9.51</c:v>
                </c:pt>
                <c:pt idx="2">
                  <c:v>8.9600000000000009</c:v>
                </c:pt>
                <c:pt idx="3">
                  <c:v>8.1999999999999993</c:v>
                </c:pt>
                <c:pt idx="4">
                  <c:v>7.78</c:v>
                </c:pt>
                <c:pt idx="5">
                  <c:v>6.12</c:v>
                </c:pt>
                <c:pt idx="6">
                  <c:v>5.85</c:v>
                </c:pt>
                <c:pt idx="7">
                  <c:v>5.8</c:v>
                </c:pt>
                <c:pt idx="8">
                  <c:v>5.75</c:v>
                </c:pt>
                <c:pt idx="9">
                  <c:v>4.9800000000000004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1D4-4697-A5F8-3B18178C9C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r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Fraud amount by state (₹ lakh)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amount (₹ lakh)</c:v>
                </c:pt>
              </c:strCache>
            </c:strRef>
          </c:tx>
          <c:spPr>
            <a:solidFill>
              <a:srgbClr val="E178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70-4375-ABA8-F7705CAA70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070-4375-ABA8-F7705CAA70AF}"/>
              </c:ext>
            </c:extLst>
          </c:dPt>
          <c:dPt>
            <c:idx val="2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070-4375-ABA8-F7705CAA70AF}"/>
              </c:ext>
            </c:extLst>
          </c:dPt>
          <c:dPt>
            <c:idx val="3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70-4375-ABA8-F7705CAA70AF}"/>
              </c:ext>
            </c:extLst>
          </c:dPt>
          <c:dPt>
            <c:idx val="4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70-4375-ABA8-F7705CAA70AF}"/>
              </c:ext>
            </c:extLst>
          </c:dPt>
          <c:dPt>
            <c:idx val="5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070-4375-ABA8-F7705CAA70AF}"/>
              </c:ext>
            </c:extLst>
          </c:dPt>
          <c:dPt>
            <c:idx val="6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070-4375-ABA8-F7705CAA70AF}"/>
              </c:ext>
            </c:extLst>
          </c:dPt>
          <c:dPt>
            <c:idx val="7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070-4375-ABA8-F7705CAA70AF}"/>
              </c:ext>
            </c:extLst>
          </c:dPt>
          <c:dPt>
            <c:idx val="8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070-4375-ABA8-F7705CAA70AF}"/>
              </c:ext>
            </c:extLst>
          </c:dPt>
          <c:dPt>
            <c:idx val="9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070-4375-ABA8-F7705CAA70A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Madhya Pradesh</c:v>
                </c:pt>
                <c:pt idx="1">
                  <c:v>Bihar</c:v>
                </c:pt>
                <c:pt idx="2">
                  <c:v>Kerala</c:v>
                </c:pt>
                <c:pt idx="3">
                  <c:v>Tamil Nadu</c:v>
                </c:pt>
                <c:pt idx="4">
                  <c:v>Telangana</c:v>
                </c:pt>
                <c:pt idx="5">
                  <c:v>Delhi</c:v>
                </c:pt>
                <c:pt idx="6">
                  <c:v>Gujarat</c:v>
                </c:pt>
                <c:pt idx="7">
                  <c:v>Uttar Pradesh</c:v>
                </c:pt>
                <c:pt idx="8">
                  <c:v>Rajasthan</c:v>
                </c:pt>
                <c:pt idx="9">
                  <c:v>Haryana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11.03</c:v>
                </c:pt>
                <c:pt idx="1">
                  <c:v>9.3800000000000008</c:v>
                </c:pt>
                <c:pt idx="2">
                  <c:v>6.84</c:v>
                </c:pt>
                <c:pt idx="3">
                  <c:v>6.78</c:v>
                </c:pt>
                <c:pt idx="4">
                  <c:v>6.7</c:v>
                </c:pt>
                <c:pt idx="5">
                  <c:v>5.0199999999999996</c:v>
                </c:pt>
                <c:pt idx="6">
                  <c:v>4.72</c:v>
                </c:pt>
                <c:pt idx="7">
                  <c:v>4.6900000000000004</c:v>
                </c:pt>
                <c:pt idx="8">
                  <c:v>4.4800000000000004</c:v>
                </c:pt>
                <c:pt idx="9">
                  <c:v>4.47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070-4375-ABA8-F7705CAA70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Fraud cases per month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</c:v>
                </c:pt>
              </c:strCache>
            </c:strRef>
          </c:tx>
          <c:spPr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7CDA-4A31-B095-DE437BC4505B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7CDA-4A31-B095-DE437BC4505B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5-7CDA-4A31-B095-DE437BC4505B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7-7CDA-4A31-B095-DE437BC4505B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9-7CDA-4A31-B095-DE437BC4505B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B-7CDA-4A31-B095-DE437BC4505B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D-7CDA-4A31-B095-DE437BC4505B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F-7CDA-4A31-B095-DE437BC4505B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11-7CDA-4A31-B095-DE437BC4505B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13-7CDA-4A31-B095-DE437BC4505B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15-7CDA-4A31-B095-DE437BC4505B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17-7CDA-4A31-B095-DE437BC450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</c:v>
                </c:pt>
                <c:pt idx="1">
                  <c:v>17</c:v>
                </c:pt>
                <c:pt idx="2">
                  <c:v>27</c:v>
                </c:pt>
                <c:pt idx="3">
                  <c:v>24</c:v>
                </c:pt>
                <c:pt idx="4">
                  <c:v>32</c:v>
                </c:pt>
                <c:pt idx="5">
                  <c:v>21</c:v>
                </c:pt>
                <c:pt idx="6">
                  <c:v>29</c:v>
                </c:pt>
                <c:pt idx="7">
                  <c:v>17</c:v>
                </c:pt>
                <c:pt idx="8">
                  <c:v>25</c:v>
                </c:pt>
                <c:pt idx="9">
                  <c:v>26</c:v>
                </c:pt>
                <c:pt idx="10">
                  <c:v>21</c:v>
                </c:pt>
                <c:pt idx="11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7CDA-4A31-B095-DE437BC450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Transactions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3F5F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UPI</c:v>
                </c:pt>
                <c:pt idx="1">
                  <c:v>Debit Card</c:v>
                </c:pt>
                <c:pt idx="2">
                  <c:v>Mobile Wallet</c:v>
                </c:pt>
                <c:pt idx="3">
                  <c:v>Credit Card</c:v>
                </c:pt>
                <c:pt idx="4">
                  <c:v>Net Banking</c:v>
                </c:pt>
                <c:pt idx="5">
                  <c:v>ATM Withdrawal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4511</c:v>
                </c:pt>
                <c:pt idx="1">
                  <c:v>1807</c:v>
                </c:pt>
                <c:pt idx="2">
                  <c:v>1253</c:v>
                </c:pt>
                <c:pt idx="3">
                  <c:v>1245</c:v>
                </c:pt>
                <c:pt idx="4">
                  <c:v>1056</c:v>
                </c:pt>
                <c:pt idx="5">
                  <c:v>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E-4AD1-A90C-FA00F7687A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Fraud rate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E178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96-42A6-B9E9-C2A9AC380739}"/>
              </c:ext>
            </c:extLst>
          </c:dPt>
          <c:dPt>
            <c:idx val="1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96-42A6-B9E9-C2A9AC38073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B96-42A6-B9E9-C2A9AC380739}"/>
              </c:ext>
            </c:extLst>
          </c:dPt>
          <c:dPt>
            <c:idx val="3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B96-42A6-B9E9-C2A9AC380739}"/>
              </c:ext>
            </c:extLst>
          </c:dPt>
          <c:dPt>
            <c:idx val="4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B96-42A6-B9E9-C2A9AC380739}"/>
              </c:ext>
            </c:extLst>
          </c:dPt>
          <c:dPt>
            <c:idx val="5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B96-42A6-B9E9-C2A9AC38073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UPI</c:v>
                </c:pt>
                <c:pt idx="1">
                  <c:v>Debit Card</c:v>
                </c:pt>
                <c:pt idx="2">
                  <c:v>Mobile Wallet</c:v>
                </c:pt>
                <c:pt idx="3">
                  <c:v>Credit Card</c:v>
                </c:pt>
                <c:pt idx="4">
                  <c:v>Net Banking</c:v>
                </c:pt>
                <c:pt idx="5">
                  <c:v>ATM Withdrawal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</c:v>
                </c:pt>
                <c:pt idx="1">
                  <c:v>1.66</c:v>
                </c:pt>
                <c:pt idx="2">
                  <c:v>3.43</c:v>
                </c:pt>
                <c:pt idx="3">
                  <c:v>2.33</c:v>
                </c:pt>
                <c:pt idx="4">
                  <c:v>2.94</c:v>
                </c:pt>
                <c:pt idx="5">
                  <c:v>2.39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B96-42A6-B9E9-C2A9AC3807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Fraud cases by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</c:v>
                </c:pt>
              </c:strCache>
            </c:strRef>
          </c:tx>
          <c:spPr>
            <a:solidFill>
              <a:srgbClr val="E178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566-4C93-8462-7A548C3F2BC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566-4C93-8462-7A548C3F2BC9}"/>
              </c:ext>
            </c:extLst>
          </c:dPt>
          <c:dPt>
            <c:idx val="2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66-4C93-8462-7A548C3F2BC9}"/>
              </c:ext>
            </c:extLst>
          </c:dPt>
          <c:dPt>
            <c:idx val="3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66-4C93-8462-7A548C3F2BC9}"/>
              </c:ext>
            </c:extLst>
          </c:dPt>
          <c:dPt>
            <c:idx val="4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66-4C93-8462-7A548C3F2BC9}"/>
              </c:ext>
            </c:extLst>
          </c:dPt>
          <c:dPt>
            <c:idx val="5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66-4C93-8462-7A548C3F2BC9}"/>
              </c:ext>
            </c:extLst>
          </c:dPt>
          <c:dPt>
            <c:idx val="6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66-4C93-8462-7A548C3F2BC9}"/>
              </c:ext>
            </c:extLst>
          </c:dPt>
          <c:dPt>
            <c:idx val="7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566-4C93-8462-7A548C3F2BC9}"/>
              </c:ext>
            </c:extLst>
          </c:dPt>
          <c:dPt>
            <c:idx val="8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566-4C93-8462-7A548C3F2BC9}"/>
              </c:ext>
            </c:extLst>
          </c:dPt>
          <c:dPt>
            <c:idx val="9"/>
            <c:invertIfNegative val="0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8566-4C93-8462-7A548C3F2B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OTP Fraud</c:v>
                </c:pt>
                <c:pt idx="1">
                  <c:v>QR Code Scam</c:v>
                </c:pt>
                <c:pt idx="2">
                  <c:v>UPI Collect Scam</c:v>
                </c:pt>
                <c:pt idx="3">
                  <c:v>Card Skimming</c:v>
                </c:pt>
                <c:pt idx="4">
                  <c:v>Cloned Card</c:v>
                </c:pt>
                <c:pt idx="5">
                  <c:v>Fake Cashback Scam</c:v>
                </c:pt>
                <c:pt idx="6">
                  <c:v>Phishing</c:v>
                </c:pt>
                <c:pt idx="7">
                  <c:v>Account Takeover</c:v>
                </c:pt>
                <c:pt idx="8">
                  <c:v>Online Card Fraud</c:v>
                </c:pt>
                <c:pt idx="9">
                  <c:v>Shoulder Surfing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</c:v>
                </c:pt>
                <c:pt idx="1">
                  <c:v>63</c:v>
                </c:pt>
                <c:pt idx="2">
                  <c:v>45</c:v>
                </c:pt>
                <c:pt idx="3">
                  <c:v>27</c:v>
                </c:pt>
                <c:pt idx="4">
                  <c:v>26</c:v>
                </c:pt>
                <c:pt idx="5">
                  <c:v>19</c:v>
                </c:pt>
                <c:pt idx="6">
                  <c:v>17</c:v>
                </c:pt>
                <c:pt idx="7">
                  <c:v>14</c:v>
                </c:pt>
                <c:pt idx="8">
                  <c:v>13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566-4C93-8462-7A548C3F2B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26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724-45DB-A044-270014A05918}"/>
              </c:ext>
            </c:extLst>
          </c:dPt>
          <c:dPt>
            <c:idx val="1"/>
            <c:bubble3D val="0"/>
            <c:spPr>
              <a:solidFill>
                <a:srgbClr val="3F5F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24-45DB-A044-270014A05918}"/>
              </c:ext>
            </c:extLst>
          </c:dPt>
          <c:dPt>
            <c:idx val="2"/>
            <c:bubble3D val="0"/>
            <c:spPr>
              <a:solidFill>
                <a:srgbClr val="E178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724-45DB-A044-270014A05918}"/>
              </c:ext>
            </c:extLst>
          </c:dPt>
          <c:dPt>
            <c:idx val="3"/>
            <c:bubble3D val="0"/>
            <c:spPr>
              <a:solidFill>
                <a:srgbClr val="9FB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724-45DB-A044-270014A0591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24-45DB-A044-270014A0591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24-45DB-A044-270014A0591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724-45DB-A044-270014A0591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724-45DB-A044-270014A0591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Mobile App</c:v>
                </c:pt>
                <c:pt idx="1">
                  <c:v>Web Browser</c:v>
                </c:pt>
                <c:pt idx="2">
                  <c:v>POS Terminal</c:v>
                </c:pt>
                <c:pt idx="3">
                  <c:v>ATM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4374</c:v>
                </c:pt>
                <c:pt idx="1">
                  <c:v>4303</c:v>
                </c:pt>
                <c:pt idx="2">
                  <c:v>1195</c:v>
                </c:pt>
                <c:pt idx="3">
                  <c:v>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24-45DB-A044-270014A05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670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Fraud cases by age group and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178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59</c:v>
                </c:pt>
                <c:pt idx="2">
                  <c:v>35</c:v>
                </c:pt>
                <c:pt idx="3">
                  <c:v>17</c:v>
                </c:pt>
                <c:pt idx="4">
                  <c:v>15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60-4D12-A3D6-42DD18389A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3F5F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65+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</c:v>
                </c:pt>
                <c:pt idx="1">
                  <c:v>39</c:v>
                </c:pt>
                <c:pt idx="2">
                  <c:v>32</c:v>
                </c:pt>
                <c:pt idx="3">
                  <c:v>26</c:v>
                </c:pt>
                <c:pt idx="4">
                  <c:v>13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60-4D12-A3D6-42DD18389A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670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Fraud rate by time period (% of transactions)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3F5F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E9-4950-AF17-7731E0EFA7E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DE9-4950-AF17-7731E0EFA7E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DE9-4950-AF17-7731E0EFA7E2}"/>
              </c:ext>
            </c:extLst>
          </c:dPt>
          <c:dPt>
            <c:idx val="3"/>
            <c:invertIfNegative val="0"/>
            <c:bubble3D val="0"/>
            <c:spPr>
              <a:solidFill>
                <a:srgbClr val="E178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E9-4950-AF17-7731E0EFA7E2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Weekday</c:v>
                </c:pt>
                <c:pt idx="1">
                  <c:v>Weekend</c:v>
                </c:pt>
                <c:pt idx="2">
                  <c:v>Day (6am-10pm)</c:v>
                </c:pt>
                <c:pt idx="3">
                  <c:v>Night (10pm-6am)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2.94</c:v>
                </c:pt>
                <c:pt idx="1">
                  <c:v>2.5499999999999998</c:v>
                </c:pt>
                <c:pt idx="2">
                  <c:v>2.56</c:v>
                </c:pt>
                <c:pt idx="3">
                  <c:v>5.51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DE9-4950-AF17-7731E0EFA7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42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642"/>
                </a:solidFill>
                <a:latin typeface="Cambria"/>
              </a:rPr>
              <a:t>Fraud rate by risk flag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3F5F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6F-4BE7-9E9F-09B1465D41B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B6F-4BE7-9E9F-09B1465D41B3}"/>
              </c:ext>
            </c:extLst>
          </c:dPt>
          <c:dPt>
            <c:idx val="2"/>
            <c:invertIfNegative val="0"/>
            <c:bubble3D val="0"/>
            <c:spPr>
              <a:solidFill>
                <a:srgbClr val="E178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6F-4BE7-9E9F-09B1465D41B3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6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2.34</c:v>
                </c:pt>
                <c:pt idx="1">
                  <c:v>5.27</c:v>
                </c:pt>
                <c:pt idx="2">
                  <c:v>14.75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6F-4BE7-9E9F-09B1465D41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4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119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4016-F1D6-4E28-B9B7-C0DFAC4F4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FF041-FCA8-4BFB-88BE-73E519BC0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0C1FD-4F9C-4B89-B4EB-EE1FCA96E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3EE29-4F8D-44C6-8C47-DF066968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AC62-F8FF-426E-AD14-DF2C5C02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179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FD9-200A-40F9-AC3B-02DD1C8D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B36CE-D120-4DF7-A81D-C0C0FEC6A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15402-9B21-41D3-A2CF-D9C51D8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B117C-538E-4FC6-90BC-0A04D6A8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5B38-5894-43EA-9E89-CC0AA4CD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613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D3F9-71D6-421A-998F-1CD44842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F32D4-A487-4E94-9ABD-BFAB8DE9B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0AC57-89EC-453E-88DC-09AF7242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F6C54-7D99-4A26-B26A-2C44BB83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C1C9A-D26A-42BA-AB5F-7F8977625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894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8655-B0CD-4E7D-8918-8E7230F2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F2B4A-A7E6-4861-9EB1-3AB30AAE2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C5DC4-E65A-423F-B826-961935A87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8B7AF-BA5E-4D06-9D8C-88E94CB8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31DF3-0E95-4FE8-89BF-AD4F0E39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0A33E-76E0-47E0-AFA0-388D5677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198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0BAD-84DE-4D66-9B55-CA1B60DD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5221D-FFC0-4AAB-AF43-A20990310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29E99-58AF-45ED-A8CE-2B2B95BA5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4AD929-6DA5-4D22-A5EE-493F47019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F4835-1CB8-4E89-9F63-335AECDCF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62409-96E4-4419-93B2-2F7C53FD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F1CC8-66BD-4B90-B962-84F6DC96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73095-45BD-4496-AE8A-1085806C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960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E223-E23D-4D68-A693-961FA743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23CE0-C498-485E-AA3C-4D2084B5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89EEF-1E61-4D7E-8AC9-E78E3A9C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5BE5D-9C05-442C-B736-C314DCD3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385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626F0-074B-47B4-BAEC-A2D5E42D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DDABD-7F61-4DAA-A87C-C19B5807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F1CDA-0CEF-4838-908E-4A8F57C3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049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63A4E-C615-4810-A1E4-977941A8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AAB5C-02E2-4439-862E-8648BA496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4844D-C290-48A9-ABB2-A91139130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B4F36-E310-4C2F-8313-BDFBD6C3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0D81E-A65C-48F1-8051-9FA7CA48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3EDD2-707A-438E-9EDC-788B22D5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315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14CE-601B-43B7-97B5-1A1569A7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A548B-8D5C-4BF2-BE20-5C5536A24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8C19B-24D1-4816-9C66-AC6A70AF0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7C56C-DE91-43BC-844E-9773E7D36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B8FCF-07BA-4412-8791-F8584547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955D-20EF-443F-B9F9-BB69EFEF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2930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0865-DA36-47D1-8347-E1FECA74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3082E-42FB-4145-9853-D872EE990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3CA6-DF77-4C81-844F-FB25A35F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17E71-4BCA-4647-9904-3F6A4D8A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FD925-7380-47B1-9DB6-6C365903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064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1B48B-27EF-44BC-AB78-198C36005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A97CD-025C-4A88-A922-1BAF21638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09D75-609B-40E7-A761-E5210AD9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9E265-9F61-41B8-B175-44483E6A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B34D-7394-4EEC-8080-9218C1118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202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72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653298-0EF8-4599-9356-280C34E5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36AB5-AF19-4A16-A772-48B01CEA6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52389-858F-4E8F-BBD3-BAAA2F768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8CB07-AA1A-441C-9B95-8F74EC456CD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3B59E-895C-466F-B652-78E03D887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18EAD-A71A-4978-8EBB-5FD65B6C4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2FAB9-0635-490F-8B66-BF4E08B25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4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1782E"/>
          </a:solidFill>
          <a:ln w="12700">
            <a:solidFill>
              <a:srgbClr val="E178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DATA ANALYTICS DASHBOARD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FINANCIAL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FRAUD</a:t>
            </a: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ANALYSIS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1F3A5F"/>
          </a:solidFill>
          <a:ln w="12700">
            <a:solidFill>
              <a:srgbClr val="3C55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297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429768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1F3A5F"/>
          </a:solidFill>
          <a:ln w="12700">
            <a:solidFill>
              <a:srgbClr val="3C55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4297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429768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1F3A5F"/>
          </a:solidFill>
          <a:ln w="12700">
            <a:solidFill>
              <a:srgbClr val="3C55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4311155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Charts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429768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1F3A5F"/>
          </a:solidFill>
          <a:ln w="12700">
            <a:solidFill>
              <a:srgbClr val="3C55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4297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29768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1F3A5F"/>
          </a:solidFill>
          <a:ln w="12700">
            <a:solidFill>
              <a:srgbClr val="3C55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42976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  •  10,500 Transactions Across 10 Banks and 14 States</a:t>
            </a:r>
            <a:endParaRPr lang="en-US" sz="11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27E3966-D187-4492-85A6-F414B5960ACA}"/>
              </a:ext>
            </a:extLst>
          </p:cNvPr>
          <p:cNvSpPr/>
          <p:nvPr/>
        </p:nvSpPr>
        <p:spPr>
          <a:xfrm>
            <a:off x="822960" y="556099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Mrunali Shinde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EACE5A9-2FBF-47EC-8E56-FEE49BBD8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65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23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studies 10,500 digital payment transactions (Sep 2025 – Aug 2026) to find where, when and how fraud happens, and which customers and banks are most exposed.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935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home/claude/icons/flat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331720"/>
            <a:ext cx="822960" cy="822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10,500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103120"/>
            <a:ext cx="35935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1" descr="/home/claude/icons/flat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233172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₹13.21 Cr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2103120"/>
            <a:ext cx="35935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2" descr="/home/claude/icons/flat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5320" y="2331720"/>
            <a:ext cx="822960" cy="8229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2688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932688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935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3" descr="/home/claude/icons/flat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7240" y="3749040"/>
            <a:ext cx="822960" cy="8229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82880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₹75.2 L</a:t>
            </a:r>
            <a:endParaRPr lang="en-US" sz="2800" dirty="0"/>
          </a:p>
        </p:txBody>
      </p:sp>
      <p:sp>
        <p:nvSpPr>
          <p:cNvPr id="22" name="Text 16"/>
          <p:cNvSpPr txBox="1"/>
          <p:nvPr/>
        </p:nvSpPr>
        <p:spPr>
          <a:xfrm>
            <a:off x="182880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AMOUNT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520440"/>
            <a:ext cx="35935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4" descr="/home/claude/icons/flat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26280" y="3749040"/>
            <a:ext cx="822960" cy="8229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2.83%</a:t>
            </a:r>
            <a:endParaRPr lang="en-US" sz="2800" dirty="0"/>
          </a:p>
        </p:txBody>
      </p:sp>
      <p:sp>
        <p:nvSpPr>
          <p:cNvPr id="26" name="Text 19"/>
          <p:cNvSpPr txBox="1"/>
          <p:nvPr/>
        </p:nvSpPr>
        <p:spPr>
          <a:xfrm>
            <a:off x="557784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046720" y="3520440"/>
            <a:ext cx="35935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5" descr="/home/claude/icons/flat6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75320" y="3749040"/>
            <a:ext cx="822960" cy="8229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32688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₹25,307</a:t>
            </a:r>
            <a:endParaRPr lang="en-US" sz="2800" dirty="0"/>
          </a:p>
        </p:txBody>
      </p:sp>
      <p:sp>
        <p:nvSpPr>
          <p:cNvPr id="30" name="Text 22"/>
          <p:cNvSpPr txBox="1"/>
          <p:nvPr/>
        </p:nvSpPr>
        <p:spPr>
          <a:xfrm>
            <a:off x="93268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PER FRAUD CASE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242852"/>
          </a:solidFill>
          <a:ln w="12700">
            <a:solidFill>
              <a:srgbClr val="242852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2296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cost ₹75.2 lakh in total (₹7,516,079). Half of the fraud cases (151 of 297) were blocked, but 146 went through as completed transactions.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Exposure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transaction and fraud amounts across banks and states.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011680"/>
            <a:ext cx="548640" cy="54864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Patterns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common fraud types, transaction types and devices.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Risk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age group and gender are most vulnerable.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15400" y="173736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89720" y="2011680"/>
            <a:ext cx="548640" cy="54864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897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&amp; Risk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fraud by month, weekday, day or night and risk flag.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142642"/>
          </a:solidFill>
          <a:ln/>
          <a:effectLst>
            <a:outerShdw blurRad="762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Job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423160" y="1965960"/>
            <a:ext cx="429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52928" y="196596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142642"/>
          </a:solidFill>
          <a:ln/>
          <a:effectLst>
            <a:outerShdw blurRad="762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52928" y="19659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7448" y="1965960"/>
            <a:ext cx="429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7216" y="196596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142642"/>
          </a:solidFill>
          <a:ln/>
          <a:effectLst>
            <a:outerShdw blurRad="762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57216" y="19659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31736" y="1965960"/>
            <a:ext cx="429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61504" y="196596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142642"/>
          </a:solidFill>
          <a:ln/>
          <a:effectLst>
            <a:outerShdw blurRad="762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61504" y="19659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36024" y="1965960"/>
            <a:ext cx="429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65792" y="196596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E1782E"/>
          </a:solidFill>
          <a:ln/>
          <a:effectLst>
            <a:outerShdw blurRad="762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65792" y="19659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2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PREPARATION ACTIVITIES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109728" cy="109728"/>
          </a:xfrm>
          <a:prstGeom prst="ellipse">
            <a:avLst/>
          </a:prstGeom>
          <a:solidFill>
            <a:srgbClr val="E1782E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87705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standardized raw Fraud data  records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53712"/>
            <a:ext cx="109728" cy="109728"/>
          </a:xfrm>
          <a:prstGeom prst="ellipse">
            <a:avLst/>
          </a:prstGeom>
          <a:solidFill>
            <a:srgbClr val="E1782E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4439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and unnecessary records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09728" cy="109728"/>
          </a:xfrm>
          <a:prstGeom prst="ellipse">
            <a:avLst/>
          </a:prstGeom>
          <a:solidFill>
            <a:srgbClr val="E1782E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50109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transaction types, locations, and device categories</a:t>
            </a:r>
          </a:p>
        </p:txBody>
      </p:sp>
      <p:sp>
        <p:nvSpPr>
          <p:cNvPr id="25" name="Shape 23"/>
          <p:cNvSpPr/>
          <p:nvPr/>
        </p:nvSpPr>
        <p:spPr>
          <a:xfrm>
            <a:off x="6126480" y="3986784"/>
            <a:ext cx="109728" cy="109728"/>
          </a:xfrm>
          <a:prstGeom prst="ellipse">
            <a:avLst/>
          </a:prstGeom>
          <a:solidFill>
            <a:srgbClr val="E178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384433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fraud patterns and high-risk transaction categories</a:t>
            </a:r>
          </a:p>
        </p:txBody>
      </p:sp>
      <p:sp>
        <p:nvSpPr>
          <p:cNvPr id="27" name="Shape 25"/>
          <p:cNvSpPr/>
          <p:nvPr/>
        </p:nvSpPr>
        <p:spPr>
          <a:xfrm>
            <a:off x="6126480" y="4553712"/>
            <a:ext cx="109728" cy="109728"/>
          </a:xfrm>
          <a:prstGeom prst="ellipse">
            <a:avLst/>
          </a:prstGeom>
          <a:solidFill>
            <a:srgbClr val="E1782E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44439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transactions by type, device, and time</a:t>
            </a:r>
          </a:p>
        </p:txBody>
      </p:sp>
      <p:sp>
        <p:nvSpPr>
          <p:cNvPr id="29" name="Shape 27"/>
          <p:cNvSpPr/>
          <p:nvPr/>
        </p:nvSpPr>
        <p:spPr>
          <a:xfrm>
            <a:off x="6126480" y="5120640"/>
            <a:ext cx="109728" cy="109728"/>
          </a:xfrm>
          <a:prstGeom prst="ellipse">
            <a:avLst/>
          </a:prstGeom>
          <a:solidFill>
            <a:srgbClr val="E1782E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50109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cleaned data for Pivot Table analysis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IT JOB MARKET &amp; CAREER INSIGHTS DASHBOARD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Banks Lose the Most to Fraud?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518370936"/>
              </p:ext>
            </p:extLst>
          </p:nvPr>
        </p:nvGraphicFramePr>
        <p:xfrm>
          <a:off x="914400" y="160020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Bank has the highest fraud loss: ₹12.2 lakh, which is 9.5% of its transaction value.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has the most transaction value (₹1.42 Cr) but only 4.3% of it is fraud.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Bank has the lowest fraud loss (₹5.0 lakh).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States by Fraud Amount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731520" y="164592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(₹11.0 lakh) and Bihar (₹9.4 lakh) are the top two states.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make up 27% of all fraud money lost.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states account for 85% of the total fraud amount.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3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Fraud Change by Month?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834093142"/>
              </p:ext>
            </p:extLst>
          </p:nvPr>
        </p:nvGraphicFramePr>
        <p:xfrm>
          <a:off x="731520" y="164592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peaks in May and December with 32 cases each.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and August are the lowest with 17 cases each.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steady rise or fall, so fraud checks are needed all year.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4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Type: Volume vs Fraud Rate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063805486"/>
              </p:ext>
            </p:extLst>
          </p:nvPr>
        </p:nvGraphicFramePr>
        <p:xfrm>
          <a:off x="822960" y="1641107"/>
          <a:ext cx="37490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572000" y="1645920"/>
          <a:ext cx="37490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the biggest channel: 4,511 transactions and 149 of the 297 fraud cases (50%).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Wallet has the highest fraud rate (3.43%), then UPI (3.30%).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is the safest at 1.66%.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5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Cases by Fraud Type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731520" y="164592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Fraud (65) and QR Code Scam (63) are the top two types.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make up 43% of all fraud cases.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that trick the customer (OTP, QR, UPI Collect) are far more common than card-based fraud.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6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Used for Transactions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1371600" y="1645920"/>
          <a:ext cx="63093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(4,374) and Web Browser (4,303) carry about 83% of all transactions.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has the highest fraud rate at 3.09%.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Terminal is the safest at 2.09%.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7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Age Group and Gender Are Most Vulnerable?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731520" y="164592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26-35 are hit hardest: 98 cases (33%), and this group also makes most transactions.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have more fraud cases (161 vs 136) and a higher rate (3.06% vs 2.60%).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aged 26-35 are the single most affected group (59 cases).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8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Fraud Happen?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731520" y="164592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transactions are only 9% of all transactions, but their fraud rate (5.51%) is more than double the day rate (2.56%).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have 222 fraud cases and weekends 75, but the rate is similar (2.94% vs 2.55%).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9 OF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Risk Flag Work?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9552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731520" y="164592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778240" y="1463040"/>
            <a:ext cx="2862072" cy="4754880"/>
          </a:xfrm>
          <a:prstGeom prst="roundRect">
            <a:avLst>
              <a:gd name="adj" fmla="val 255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169164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2057400"/>
            <a:ext cx="24048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High Risk transactions have a 14.75% fraud rate, about 6 times the Low Risk rate (2.34%).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Still, 219 of the 297 fraud cases were flagged Low Risk, so the flag alone is not enough.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frauds were blocked, but 146 completed.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FRAUD ANALYSIS DASHBOARD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1828800" cy="54864"/>
          </a:xfrm>
          <a:prstGeom prst="rect">
            <a:avLst/>
          </a:prstGeom>
          <a:solidFill>
            <a:srgbClr val="E1782E"/>
          </a:solidFill>
          <a:ln w="12700">
            <a:solidFill>
              <a:srgbClr val="E178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Banks &amp; States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Bank and Madhya Pradesh lose the most to fraud.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155448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1691640"/>
            <a:ext cx="1828800" cy="54864"/>
          </a:xfrm>
          <a:prstGeom prst="rect">
            <a:avLst/>
          </a:prstGeom>
          <a:solidFill>
            <a:srgbClr val="E1782E"/>
          </a:solidFill>
          <a:ln w="12700">
            <a:solidFill>
              <a:srgbClr val="E178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3317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has half of all fraud cases; Mobile Wallet has the top rate.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6360" y="1691640"/>
            <a:ext cx="1828800" cy="54864"/>
          </a:xfrm>
          <a:prstGeom prst="rect">
            <a:avLst/>
          </a:prstGeom>
          <a:solidFill>
            <a:srgbClr val="E1782E"/>
          </a:solidFill>
          <a:ln w="12700">
            <a:solidFill>
              <a:srgbClr val="E178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Type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3317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Fraud and QR Code Scam make up 43% of cases.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69480" y="155448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1691640"/>
            <a:ext cx="1828800" cy="54864"/>
          </a:xfrm>
          <a:prstGeom prst="rect">
            <a:avLst/>
          </a:prstGeom>
          <a:solidFill>
            <a:srgbClr val="E1782E"/>
          </a:solidFill>
          <a:ln w="12700">
            <a:solidFill>
              <a:srgbClr val="E178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3317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26-35 and women are most affected.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509760" y="155448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46920" y="1691640"/>
            <a:ext cx="1828800" cy="54864"/>
          </a:xfrm>
          <a:prstGeom prst="rect">
            <a:avLst/>
          </a:prstGeom>
          <a:solidFill>
            <a:srgbClr val="E1782E"/>
          </a:solidFill>
          <a:ln w="12700">
            <a:solidFill>
              <a:srgbClr val="E178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3317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fraud rate (5.51%) is double the day rate.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17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concentrated in UPI and wallet payments, customer-tricking scams, night hours and a few banks and states. Stronger night-time checks, OTP/QR awareness campaigns and closer review of High Risk and Low Risk flagged transactions can reduce losses.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1046</Words>
  <Application>Microsoft Office PowerPoint</Application>
  <PresentationFormat>Widescreen</PresentationFormat>
  <Paragraphs>179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Mrunali Shinde</cp:lastModifiedBy>
  <cp:revision>6</cp:revision>
  <dcterms:created xsi:type="dcterms:W3CDTF">2026-09-29T17:13:16Z</dcterms:created>
  <dcterms:modified xsi:type="dcterms:W3CDTF">2026-10-18T13:50:22Z</dcterms:modified>
</cp:coreProperties>
</file>